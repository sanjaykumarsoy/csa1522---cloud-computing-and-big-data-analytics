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89" r:id="rId2"/>
    <p:sldId id="257" r:id="rId3"/>
    <p:sldId id="290" r:id="rId4"/>
    <p:sldId id="258" r:id="rId5"/>
    <p:sldId id="259" r:id="rId6"/>
    <p:sldId id="299" r:id="rId7"/>
    <p:sldId id="260" r:id="rId8"/>
    <p:sldId id="295" r:id="rId9"/>
    <p:sldId id="291" r:id="rId10"/>
    <p:sldId id="296" r:id="rId11"/>
    <p:sldId id="292" r:id="rId12"/>
    <p:sldId id="297" r:id="rId13"/>
    <p:sldId id="264" r:id="rId14"/>
    <p:sldId id="261" r:id="rId15"/>
    <p:sldId id="300" r:id="rId16"/>
    <p:sldId id="265" r:id="rId17"/>
    <p:sldId id="267" r:id="rId18"/>
    <p:sldId id="293" r:id="rId19"/>
    <p:sldId id="298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823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D26E9-BA8F-E31B-21D7-CE9A55466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A9AA4C-2540-19FE-293C-F9108E32B2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635BAB-1402-43D3-E669-C7FDF75B4E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https://www.mdpi.com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D5C1A-C522-CC12-B7E4-D2044E66E3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40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https://www.mdpi.com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D5D28-F798-FD30-697D-DE35EAF10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3B9A38-EBBA-2131-51BF-DB68F2831C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5A5038-C06F-3A3F-6E03-498D60A2A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74F30-3822-C83A-DB56-9F29EDCA56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823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95508-3CFF-D885-04E2-6CE1BBFC5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D542E2-006E-3489-879E-6F01D58F59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39E707-A6E1-4737-C44E-B3C22B0C4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A60C3-7970-EC27-A90D-483A94746C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5327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https://www.mdpi.com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803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ijcaonline.org/archives/volume187/number10/designing-multi-tenant-e-learning-systems-in-the-cloud-a-process-oriented-approach-for-higher-education/?utm_source=chatgpt.com" TargetMode="External"/><Relationship Id="rId7" Type="http://schemas.openxmlformats.org/officeDocument/2006/relationships/hyperlink" Target="https://arxiv.org/abs/2608.13351?utm_source=chatgpt.com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mdpi.com/2624-831X/7/1/21?utm_source=chatgpt.com" TargetMode="External"/><Relationship Id="rId5" Type="http://schemas.openxmlformats.org/officeDocument/2006/relationships/hyperlink" Target="https://www.indjcst.com/archives/design-and-evaluation-of-a-multi-tenant-saas-platform-for-scalable-and-secure-application-delivery?utm_source=chatgpt.com" TargetMode="External"/><Relationship Id="rId4" Type="http://schemas.openxmlformats.org/officeDocument/2006/relationships/hyperlink" Target="https://link.springer.com/article/10.1186/s41239-025-00541-1?utm_source=chatgpt.com" TargetMode="External"/><Relationship Id="rId9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57094-8701-F282-F96B-11BA02B68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09820"/>
            <a:ext cx="788670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Multi-Tenant SaaS-Based Student Learning Management System</a:t>
            </a:r>
            <a:endParaRPr lang="en-IN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0D3E2-F610-2747-1C75-E6CF00CE5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787" y="2571750"/>
            <a:ext cx="7886700" cy="272927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CSA1522-CLOUD COMPUTING &amp; BIG DATA ANALYTICS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B2EF99-82AA-F1F2-9A6E-5718A160EF18}"/>
              </a:ext>
            </a:extLst>
          </p:cNvPr>
          <p:cNvSpPr txBox="1"/>
          <p:nvPr/>
        </p:nvSpPr>
        <p:spPr>
          <a:xfrm>
            <a:off x="6239022" y="3672812"/>
            <a:ext cx="2637692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b="1" dirty="0"/>
              <a:t>Name of the student :</a:t>
            </a:r>
          </a:p>
          <a:p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K.Dhilip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(192365013)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Sanjay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kumar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soy(192311151)</a:t>
            </a:r>
          </a:p>
          <a:p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T.Subahan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(192511121)</a:t>
            </a:r>
          </a:p>
          <a:p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C0B79C-0873-08C5-C549-9711070DE923}"/>
              </a:ext>
            </a:extLst>
          </p:cNvPr>
          <p:cNvSpPr txBox="1"/>
          <p:nvPr/>
        </p:nvSpPr>
        <p:spPr>
          <a:xfrm>
            <a:off x="628650" y="3672812"/>
            <a:ext cx="203057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b="1" dirty="0"/>
              <a:t>Guided by :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Rajaram P </a:t>
            </a:r>
          </a:p>
        </p:txBody>
      </p:sp>
      <p:pic>
        <p:nvPicPr>
          <p:cNvPr id="17" name="Picture 16" descr="Saveetha University">
            <a:extLst>
              <a:ext uri="{FF2B5EF4-FFF2-40B4-BE49-F238E27FC236}">
                <a16:creationId xmlns:a16="http://schemas.microsoft.com/office/drawing/2014/main" id="{4E65343F-AFCE-2551-4001-5C99A7852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74" y="237952"/>
            <a:ext cx="4062270" cy="831193"/>
          </a:xfrm>
          <a:prstGeom prst="rect">
            <a:avLst/>
          </a:prstGeom>
        </p:spPr>
      </p:pic>
      <p:pic>
        <p:nvPicPr>
          <p:cNvPr id="20" name="Picture 19" descr="Admissions — SIMATS">
            <a:extLst>
              <a:ext uri="{FF2B5EF4-FFF2-40B4-BE49-F238E27FC236}">
                <a16:creationId xmlns:a16="http://schemas.microsoft.com/office/drawing/2014/main" id="{76952476-05EE-764E-40A1-59AA06F4F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184697"/>
            <a:ext cx="4062270" cy="99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240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02919" y="565066"/>
            <a:ext cx="7828671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Introduction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136D5878-E3A8-758A-AA8F-A6722FC72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10" name="Picture 9" descr="Admissions — SIMATS">
            <a:extLst>
              <a:ext uri="{FF2B5EF4-FFF2-40B4-BE49-F238E27FC236}">
                <a16:creationId xmlns:a16="http://schemas.microsoft.com/office/drawing/2014/main" id="{94DCDD7C-829E-44A1-95C5-E26E65B00F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463" y="90840"/>
            <a:ext cx="4062270" cy="4583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17C43D-7953-5BC1-E54E-298B9B3C2AC4}"/>
              </a:ext>
            </a:extLst>
          </p:cNvPr>
          <p:cNvSpPr txBox="1"/>
          <p:nvPr/>
        </p:nvSpPr>
        <p:spPr>
          <a:xfrm>
            <a:off x="502919" y="1362808"/>
            <a:ext cx="788142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Learning Management System (LMS) is a software application used to manage online learning activities.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LMS platforms often require separate installations for each institution, leading to higher costs and maintenance.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Multi-Tenant SaaS LMS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multiple educational institutions to use a single cloud-based application while keeping each institution's data isolated and secure.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technologies provide scalability, reliability, and easy access from anywhere using the internet.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68966B-5E45-C503-F811-0B60D711E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20DA9B9C-9C1F-C1B6-ABBC-088B0E145F98}"/>
              </a:ext>
            </a:extLst>
          </p:cNvPr>
          <p:cNvSpPr/>
          <p:nvPr/>
        </p:nvSpPr>
        <p:spPr>
          <a:xfrm>
            <a:off x="254881" y="703681"/>
            <a:ext cx="8229600" cy="520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Abstract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3F807FF4-D4C7-17C6-A289-C41F49E55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062270" cy="520505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D77DB304-48B3-37F1-090D-E176DD71B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61F0D18-9889-2140-D361-BE8DAD21DC8D}"/>
              </a:ext>
            </a:extLst>
          </p:cNvPr>
          <p:cNvSpPr txBox="1"/>
          <p:nvPr/>
        </p:nvSpPr>
        <p:spPr>
          <a:xfrm>
            <a:off x="606574" y="1392700"/>
            <a:ext cx="787790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This project presents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Multi-Tenant SaaS-Based Student Learning Management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allows multiple educational institutions to share a single cloud-hosted application while maintaining complete data isolation for each tenant. The system provides secure user authentication, role-based access control, course management, online assessments, and subscription billing. By adopting cloud computing techniques such as multi-tenancy, load balancing, and auto-scaling, the platform delivers high availability, reduced infrastructure costs, and simplified maintenance. The proposed solution improves learning accessibility, supports institutional growth, and offers an efficient Software-as-a-Service (SaaS) model for modern education.</a:t>
            </a:r>
          </a:p>
        </p:txBody>
      </p:sp>
    </p:spTree>
    <p:extLst>
      <p:ext uri="{BB962C8B-B14F-4D97-AF65-F5344CB8AC3E}">
        <p14:creationId xmlns:p14="http://schemas.microsoft.com/office/powerpoint/2010/main" val="822373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223419" y="696348"/>
            <a:ext cx="8229600" cy="520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Problem statements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33643" y="1498208"/>
            <a:ext cx="8876714" cy="23633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Learning Management Systems require separate installations and servers for each institution, resulting in high deployment and maintenance costs.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users, courses, and assessments across multiple institutions becomes difficult without secure data isolation and centralized administration.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often struggle to handle increasing numbers of users during peak academic periods due to limited scalability and inefficient resource utilization.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F0CCF27A-B923-CFB2-E34D-92165293E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062270" cy="520505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51F78C6F-61BB-F36E-4E4F-5F4B50855A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407962"/>
            <a:ext cx="8229600" cy="6435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400" dirty="0"/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25D29680-F82F-FC94-45D9-9EE4EC3C5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19" y="70338"/>
            <a:ext cx="4333505" cy="499405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22FF8738-7510-5CB8-1AAB-0EDE88D22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1400630-22AB-53EF-E8DD-7AB0B0AB996D}"/>
              </a:ext>
            </a:extLst>
          </p:cNvPr>
          <p:cNvSpPr txBox="1"/>
          <p:nvPr/>
        </p:nvSpPr>
        <p:spPr>
          <a:xfrm>
            <a:off x="474786" y="635528"/>
            <a:ext cx="7744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6ECE05-AD0A-7F29-5B95-27F8F5F0C517}"/>
              </a:ext>
            </a:extLst>
          </p:cNvPr>
          <p:cNvSpPr txBox="1"/>
          <p:nvPr/>
        </p:nvSpPr>
        <p:spPr>
          <a:xfrm>
            <a:off x="590844" y="1216857"/>
            <a:ext cx="751214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cloud-based multi-tenant learning management system that securely serves multiple educational institutions using a single shared application.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efficient course management, online assessments, and role-based access control for administrators, faculty, and students.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scalability, availability, and cost efficiency using SaaS architecture, load balancing, cloud auto-scaling, and subscription billing.</a:t>
            </a:r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veetha University">
            <a:extLst>
              <a:ext uri="{FF2B5EF4-FFF2-40B4-BE49-F238E27FC236}">
                <a16:creationId xmlns:a16="http://schemas.microsoft.com/office/drawing/2014/main" id="{22FF8738-7510-5CB8-1AAB-0EDE88D22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3" name="Picture 2" descr="Admissions — SIMATS">
            <a:extLst>
              <a:ext uri="{FF2B5EF4-FFF2-40B4-BE49-F238E27FC236}">
                <a16:creationId xmlns:a16="http://schemas.microsoft.com/office/drawing/2014/main" id="{25D29680-F82F-FC94-45D9-9EE4EC3C5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19" y="70338"/>
            <a:ext cx="4333505" cy="4994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9289" y="612983"/>
            <a:ext cx="4568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Literature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537433"/>
              </p:ext>
            </p:extLst>
          </p:nvPr>
        </p:nvGraphicFramePr>
        <p:xfrm>
          <a:off x="516696" y="1257528"/>
          <a:ext cx="8113567" cy="3531022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518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5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8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49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53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6950">
                <a:tc>
                  <a:txBody>
                    <a:bodyPr/>
                    <a:lstStyle/>
                    <a:p>
                      <a:pPr algn="just"/>
                      <a:r>
                        <a:rPr lang="en-IN" sz="1200" b="1" dirty="0">
                          <a:latin typeface="Times New Roman" pitchFamily="18" charset="0"/>
                          <a:cs typeface="Times New Roman" pitchFamily="18" charset="0"/>
                        </a:rPr>
                        <a:t>No.</a:t>
                      </a:r>
                    </a:p>
                  </a:txBody>
                  <a:tcPr marL="38136" marR="38136" marT="19068" marB="19068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b="1">
                          <a:latin typeface="Times New Roman" pitchFamily="18" charset="0"/>
                          <a:cs typeface="Times New Roman" pitchFamily="18" charset="0"/>
                        </a:rPr>
                        <a:t>Journal / Reference</a:t>
                      </a:r>
                    </a:p>
                  </a:txBody>
                  <a:tcPr marL="38136" marR="38136" marT="19068" marB="19068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b="1">
                          <a:latin typeface="Times New Roman" pitchFamily="18" charset="0"/>
                          <a:cs typeface="Times New Roman" pitchFamily="18" charset="0"/>
                        </a:rPr>
                        <a:t>Algorithm / Technology</a:t>
                      </a:r>
                    </a:p>
                  </a:txBody>
                  <a:tcPr marL="38136" marR="38136" marT="19068" marB="19068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b="1" dirty="0">
                          <a:latin typeface="Times New Roman" pitchFamily="18" charset="0"/>
                          <a:cs typeface="Times New Roman" pitchFamily="18" charset="0"/>
                        </a:rPr>
                        <a:t>Advantages</a:t>
                      </a:r>
                    </a:p>
                  </a:txBody>
                  <a:tcPr marL="38136" marR="38136" marT="19068" marB="19068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b="1">
                          <a:latin typeface="Times New Roman" pitchFamily="18" charset="0"/>
                          <a:cs typeface="Times New Roman" pitchFamily="18" charset="0"/>
                        </a:rPr>
                        <a:t>Disadvantages</a:t>
                      </a:r>
                    </a:p>
                  </a:txBody>
                  <a:tcPr marL="38136" marR="38136" marT="19068" marB="19068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b="1" dirty="0">
                          <a:latin typeface="Times New Roman" pitchFamily="18" charset="0"/>
                          <a:cs typeface="Times New Roman" pitchFamily="18" charset="0"/>
                        </a:rPr>
                        <a:t>Research Gap</a:t>
                      </a:r>
                    </a:p>
                  </a:txBody>
                  <a:tcPr marL="38136" marR="38136" marT="19068" marB="1906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7799"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8136" marR="38136" marT="19068" marB="19068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200" dirty="0">
                          <a:latin typeface="Times New Roman" pitchFamily="18" charset="0"/>
                          <a:cs typeface="Times New Roman" pitchFamily="18" charset="0"/>
                        </a:rPr>
                        <a:t>Ahmed et al., International Journal of Educational Technology in Higher Education, 2025</a:t>
                      </a:r>
                    </a:p>
                  </a:txBody>
                  <a:tcPr marL="38136" marR="38136" marT="19068" marB="19068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>
                          <a:latin typeface="Times New Roman" pitchFamily="18" charset="0"/>
                          <a:cs typeface="Times New Roman" pitchFamily="18" charset="0"/>
                        </a:rPr>
                        <a:t>Cloud LMS, Gamification</a:t>
                      </a:r>
                    </a:p>
                  </a:txBody>
                  <a:tcPr marL="38136" marR="38136" marT="19068" marB="19068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>
                          <a:latin typeface="Times New Roman" pitchFamily="18" charset="0"/>
                          <a:cs typeface="Times New Roman" pitchFamily="18" charset="0"/>
                        </a:rPr>
                        <a:t>Improves student engagement</a:t>
                      </a:r>
                    </a:p>
                  </a:txBody>
                  <a:tcPr marL="38136" marR="38136" marT="19068" marB="19068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>
                          <a:latin typeface="Times New Roman" pitchFamily="18" charset="0"/>
                          <a:cs typeface="Times New Roman" pitchFamily="18" charset="0"/>
                        </a:rPr>
                        <a:t>Course-specific</a:t>
                      </a:r>
                    </a:p>
                  </a:txBody>
                  <a:tcPr marL="38136" marR="38136" marT="19068" marB="19068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>
                          <a:latin typeface="Times New Roman" pitchFamily="18" charset="0"/>
                          <a:cs typeface="Times New Roman" pitchFamily="18" charset="0"/>
                        </a:rPr>
                        <a:t>No multi-tenant LMS</a:t>
                      </a:r>
                    </a:p>
                  </a:txBody>
                  <a:tcPr marL="38136" marR="38136" marT="19068" marB="1906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985">
                <a:tc>
                  <a:txBody>
                    <a:bodyPr/>
                    <a:lstStyle/>
                    <a:p>
                      <a:pPr algn="just"/>
                      <a:r>
                        <a:rPr lang="en-IN" sz="120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38136" marR="38136" marT="19068" marB="19068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200">
                          <a:latin typeface="Times New Roman" pitchFamily="18" charset="0"/>
                          <a:cs typeface="Times New Roman" pitchFamily="18" charset="0"/>
                        </a:rPr>
                        <a:t>Sharma et al., Indian Journal of Computer Science and Technology, 2025</a:t>
                      </a:r>
                    </a:p>
                  </a:txBody>
                  <a:tcPr marL="38136" marR="38136" marT="19068" marB="19068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>
                          <a:latin typeface="Times New Roman" pitchFamily="18" charset="0"/>
                          <a:cs typeface="Times New Roman" pitchFamily="18" charset="0"/>
                        </a:rPr>
                        <a:t>Multi-Tenant SaaS, Kubernetes, RBAC</a:t>
                      </a:r>
                    </a:p>
                  </a:txBody>
                  <a:tcPr marL="38136" marR="38136" marT="19068" marB="19068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>
                          <a:latin typeface="Times New Roman" pitchFamily="18" charset="0"/>
                          <a:cs typeface="Times New Roman" pitchFamily="18" charset="0"/>
                        </a:rPr>
                        <a:t>Scalable and secure</a:t>
                      </a:r>
                    </a:p>
                  </a:txBody>
                  <a:tcPr marL="38136" marR="38136" marT="19068" marB="19068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>
                          <a:latin typeface="Times New Roman" pitchFamily="18" charset="0"/>
                          <a:cs typeface="Times New Roman" pitchFamily="18" charset="0"/>
                        </a:rPr>
                        <a:t>Not education-specific</a:t>
                      </a:r>
                    </a:p>
                  </a:txBody>
                  <a:tcPr marL="38136" marR="38136" marT="19068" marB="19068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200">
                          <a:latin typeface="Times New Roman" pitchFamily="18" charset="0"/>
                          <a:cs typeface="Times New Roman" pitchFamily="18" charset="0"/>
                        </a:rPr>
                        <a:t>No course and assessment features</a:t>
                      </a:r>
                    </a:p>
                  </a:txBody>
                  <a:tcPr marL="38136" marR="38136" marT="19068" marB="1906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171">
                <a:tc>
                  <a:txBody>
                    <a:bodyPr/>
                    <a:lstStyle/>
                    <a:p>
                      <a:pPr algn="just"/>
                      <a:r>
                        <a:rPr lang="en-IN" sz="120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38136" marR="38136" marT="19068" marB="19068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200">
                          <a:latin typeface="Times New Roman" pitchFamily="18" charset="0"/>
                          <a:cs typeface="Times New Roman" pitchFamily="18" charset="0"/>
                        </a:rPr>
                        <a:t>Yin et al., Journal of Northeastern University, 2026</a:t>
                      </a:r>
                    </a:p>
                  </a:txBody>
                  <a:tcPr marL="38136" marR="38136" marT="19068" marB="19068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>
                          <a:latin typeface="Times New Roman" pitchFamily="18" charset="0"/>
                          <a:cs typeface="Times New Roman" pitchFamily="18" charset="0"/>
                        </a:rPr>
                        <a:t>ACO, SaaS Multi-Tenancy</a:t>
                      </a:r>
                    </a:p>
                  </a:txBody>
                  <a:tcPr marL="38136" marR="38136" marT="19068" marB="19068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>
                          <a:latin typeface="Times New Roman" pitchFamily="18" charset="0"/>
                          <a:cs typeface="Times New Roman" pitchFamily="18" charset="0"/>
                        </a:rPr>
                        <a:t>Supports different tenant requirements</a:t>
                      </a:r>
                    </a:p>
                  </a:txBody>
                  <a:tcPr marL="38136" marR="38136" marT="19068" marB="19068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>
                          <a:latin typeface="Times New Roman" pitchFamily="18" charset="0"/>
                          <a:cs typeface="Times New Roman" pitchFamily="18" charset="0"/>
                        </a:rPr>
                        <a:t>Computational complexity</a:t>
                      </a:r>
                    </a:p>
                  </a:txBody>
                  <a:tcPr marL="38136" marR="38136" marT="19068" marB="19068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200">
                          <a:latin typeface="Times New Roman" pitchFamily="18" charset="0"/>
                          <a:cs typeface="Times New Roman" pitchFamily="18" charset="0"/>
                        </a:rPr>
                        <a:t>No LMS and billing integration</a:t>
                      </a:r>
                    </a:p>
                  </a:txBody>
                  <a:tcPr marL="38136" marR="38136" marT="19068" marB="1906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171">
                <a:tc>
                  <a:txBody>
                    <a:bodyPr/>
                    <a:lstStyle/>
                    <a:p>
                      <a:pPr algn="just"/>
                      <a:r>
                        <a:rPr lang="en-IN" sz="120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38136" marR="38136" marT="19068" marB="19068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200">
                          <a:latin typeface="Times New Roman" pitchFamily="18" charset="0"/>
                          <a:cs typeface="Times New Roman" pitchFamily="18" charset="0"/>
                        </a:rPr>
                        <a:t>Murali, Journal of Cloud Computing, 2026</a:t>
                      </a:r>
                    </a:p>
                  </a:txBody>
                  <a:tcPr marL="38136" marR="38136" marT="19068" marB="19068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>
                          <a:latin typeface="Times New Roman" pitchFamily="18" charset="0"/>
                          <a:cs typeface="Times New Roman" pitchFamily="18" charset="0"/>
                        </a:rPr>
                        <a:t>Hypergraph-based Resource Scheduling</a:t>
                      </a:r>
                    </a:p>
                  </a:txBody>
                  <a:tcPr marL="38136" marR="38136" marT="19068" marB="19068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>
                          <a:latin typeface="Times New Roman" pitchFamily="18" charset="0"/>
                          <a:cs typeface="Times New Roman" pitchFamily="18" charset="0"/>
                        </a:rPr>
                        <a:t>Improves cloud resource utilization</a:t>
                      </a:r>
                    </a:p>
                  </a:txBody>
                  <a:tcPr marL="38136" marR="38136" marT="19068" marB="19068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>
                          <a:latin typeface="Times New Roman" pitchFamily="18" charset="0"/>
                          <a:cs typeface="Times New Roman" pitchFamily="18" charset="0"/>
                        </a:rPr>
                        <a:t>Complex implementation</a:t>
                      </a:r>
                    </a:p>
                  </a:txBody>
                  <a:tcPr marL="38136" marR="38136" marT="19068" marB="19068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>
                          <a:latin typeface="Times New Roman" pitchFamily="18" charset="0"/>
                          <a:cs typeface="Times New Roman" pitchFamily="18" charset="0"/>
                        </a:rPr>
                        <a:t>No student LMS functionality</a:t>
                      </a:r>
                    </a:p>
                  </a:txBody>
                  <a:tcPr marL="38136" marR="38136" marT="19068" marB="1906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7077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55209" y="801259"/>
            <a:ext cx="8229600" cy="531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Multi-Tenant Architecture &amp; User Management</a:t>
            </a:r>
          </a:p>
        </p:txBody>
      </p:sp>
      <p:sp>
        <p:nvSpPr>
          <p:cNvPr id="5" name="Text 1"/>
          <p:cNvSpPr/>
          <p:nvPr/>
        </p:nvSpPr>
        <p:spPr>
          <a:xfrm>
            <a:off x="457200" y="1361049"/>
            <a:ext cx="8025619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multiple institutions within a single cloud application.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secure and isolated data for each institution.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separate dashboards for administrators, faculty, and students. 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 marL="400050" lvl="0" indent="-400050" algn="just">
              <a:buFont typeface="+mj-lt"/>
              <a:buAutoNum type="roman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Tenant Registration </a:t>
            </a:r>
          </a:p>
          <a:p>
            <a:pPr marL="400050" lvl="0" indent="-400050" algn="just">
              <a:buFont typeface="+mj-lt"/>
              <a:buAutoNum type="roman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</a:t>
            </a:r>
          </a:p>
          <a:p>
            <a:pPr marL="400050" lvl="0" indent="-400050" algn="just">
              <a:buFont typeface="+mj-lt"/>
              <a:buAutoNum type="roman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 (RBAC) </a:t>
            </a:r>
          </a:p>
          <a:p>
            <a:pPr marL="400050" lvl="0" indent="-400050" algn="just">
              <a:buFont typeface="+mj-lt"/>
              <a:buAutoNum type="roman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Profile Management </a:t>
            </a:r>
          </a:p>
          <a:p>
            <a:pPr marL="400050" lvl="0" indent="-400050" algn="just">
              <a:buFont typeface="+mj-lt"/>
              <a:buAutoNum type="roman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04BFD0C4-588B-BD17-7364-B0E5A6D76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15C1243B-D1AD-C3B3-FD12-BEF7D4469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veetha University">
            <a:extLst>
              <a:ext uri="{FF2B5EF4-FFF2-40B4-BE49-F238E27FC236}">
                <a16:creationId xmlns:a16="http://schemas.microsoft.com/office/drawing/2014/main" id="{15C1243B-D1AD-C3B3-FD12-BEF7D4469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3" name="Picture 2" descr="Admissions — SIMATS">
            <a:extLst>
              <a:ext uri="{FF2B5EF4-FFF2-40B4-BE49-F238E27FC236}">
                <a16:creationId xmlns:a16="http://schemas.microsoft.com/office/drawing/2014/main" id="{04BFD0C4-588B-BD17-7364-B0E5A6D76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17520" y="741680"/>
            <a:ext cx="2987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itchFamily="18" charset="0"/>
                <a:cs typeface="Times New Roman" pitchFamily="18" charset="0"/>
              </a:rPr>
              <a:t>Module 1: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0CAFAE-2A3D-7C29-7330-A2CBB007AF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2758" y="1436286"/>
            <a:ext cx="2538179" cy="26685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61D318-822D-AA58-0160-0CDB0F444A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9385" y="1547843"/>
            <a:ext cx="3052167" cy="2303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168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7568F4-9537-9BBE-8E77-0E944199A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D731462E-ADC6-4F16-DB5F-A47D4D4CEE02}"/>
              </a:ext>
            </a:extLst>
          </p:cNvPr>
          <p:cNvSpPr/>
          <p:nvPr/>
        </p:nvSpPr>
        <p:spPr>
          <a:xfrm>
            <a:off x="355209" y="689617"/>
            <a:ext cx="8229600" cy="531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Course Content &amp; Assessment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4068C86-17F1-551D-B9DF-D917A8D46A55}"/>
              </a:ext>
            </a:extLst>
          </p:cNvPr>
          <p:cNvSpPr/>
          <p:nvPr/>
        </p:nvSpPr>
        <p:spPr>
          <a:xfrm>
            <a:off x="457200" y="1361049"/>
            <a:ext cx="8025619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faculty members to manage academic activities online.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access learning materials and complete assessments. 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 marL="400050" lvl="0" indent="-400050" algn="just">
              <a:buFont typeface="+mj-lt"/>
              <a:buAutoNum type="roman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Creation </a:t>
            </a:r>
          </a:p>
          <a:p>
            <a:pPr marL="400050" lvl="0" indent="-400050" algn="just">
              <a:buFont typeface="+mj-lt"/>
              <a:buAutoNum type="roman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Upload </a:t>
            </a:r>
          </a:p>
          <a:p>
            <a:pPr marL="400050" lvl="0" indent="-400050" algn="just">
              <a:buFont typeface="+mj-lt"/>
              <a:buAutoNum type="roman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Submission </a:t>
            </a:r>
          </a:p>
          <a:p>
            <a:pPr marL="400050" lvl="0" indent="-400050" algn="just">
              <a:buFont typeface="+mj-lt"/>
              <a:buAutoNum type="roman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Quiz </a:t>
            </a:r>
          </a:p>
          <a:p>
            <a:pPr marL="400050" lvl="0" indent="-400050" algn="just">
              <a:buFont typeface="+mj-lt"/>
              <a:buAutoNum type="roman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Management </a:t>
            </a:r>
          </a:p>
          <a:p>
            <a:pPr marL="400050" lvl="0" indent="-400050" algn="just">
              <a:buFont typeface="+mj-lt"/>
              <a:buAutoNum type="roman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Tracking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A2EB42FF-58FD-8209-D7CB-72F14A489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5D3C0A79-0557-F009-12CB-1D76CB4640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18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veetha University">
            <a:extLst>
              <a:ext uri="{FF2B5EF4-FFF2-40B4-BE49-F238E27FC236}">
                <a16:creationId xmlns:a16="http://schemas.microsoft.com/office/drawing/2014/main" id="{5D3C0A79-0557-F009-12CB-1D76CB464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3" name="Picture 2" descr="Admissions — SIMATS">
            <a:extLst>
              <a:ext uri="{FF2B5EF4-FFF2-40B4-BE49-F238E27FC236}">
                <a16:creationId xmlns:a16="http://schemas.microsoft.com/office/drawing/2014/main" id="{A2EB42FF-58FD-8209-D7CB-72F14A489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63440" y="721360"/>
            <a:ext cx="2854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Module 2: Output</a:t>
            </a:r>
          </a:p>
          <a:p>
            <a:endParaRPr lang="en-IN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5221" y="1377627"/>
            <a:ext cx="4351020" cy="3145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6022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4A06C2-C02C-6D48-8412-CE561BA82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B2AF1F51-C6EB-0202-333A-01EB408305AD}"/>
              </a:ext>
            </a:extLst>
          </p:cNvPr>
          <p:cNvSpPr/>
          <p:nvPr/>
        </p:nvSpPr>
        <p:spPr>
          <a:xfrm>
            <a:off x="355209" y="689617"/>
            <a:ext cx="8229600" cy="531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Cloud Deployment &amp; Subscription Billing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A9519EB-7E14-9F58-4AE5-7851FCBBC64D}"/>
              </a:ext>
            </a:extLst>
          </p:cNvPr>
          <p:cNvSpPr/>
          <p:nvPr/>
        </p:nvSpPr>
        <p:spPr>
          <a:xfrm>
            <a:off x="457200" y="1361049"/>
            <a:ext cx="8025619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Deploys the LMS on a cloud platform.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subscription plans for different educational institutions.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 marL="400050" lvl="0" indent="-400050" algn="just">
              <a:buFont typeface="+mj-lt"/>
              <a:buAutoNum type="roman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Hosting </a:t>
            </a:r>
          </a:p>
          <a:p>
            <a:pPr marL="400050" lvl="0" indent="-400050" algn="just">
              <a:buFont typeface="+mj-lt"/>
              <a:buAutoNum type="roman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Subscription Management </a:t>
            </a:r>
          </a:p>
          <a:p>
            <a:pPr marL="400050" lvl="0" indent="-400050" algn="just">
              <a:buFont typeface="+mj-lt"/>
              <a:buAutoNum type="roman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Processing </a:t>
            </a:r>
          </a:p>
          <a:p>
            <a:pPr marL="400050" lvl="0" indent="-400050" algn="just">
              <a:buFont typeface="+mj-lt"/>
              <a:buAutoNum type="roman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Billing Reports </a:t>
            </a:r>
          </a:p>
          <a:p>
            <a:pPr marL="400050" lvl="0" indent="-400050" algn="just">
              <a:buFont typeface="+mj-lt"/>
              <a:buAutoNum type="roman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 Scaling </a:t>
            </a:r>
          </a:p>
          <a:p>
            <a:pPr marL="400050" lvl="0" indent="-400050" algn="just">
              <a:buFont typeface="+mj-lt"/>
              <a:buAutoNum type="roman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Usage Monitoring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7447675B-4BCD-8C2F-0BFF-DB23062B1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24D146C1-B978-92CE-E606-DC8DF5939E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216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veetha University">
            <a:extLst>
              <a:ext uri="{FF2B5EF4-FFF2-40B4-BE49-F238E27FC236}">
                <a16:creationId xmlns:a16="http://schemas.microsoft.com/office/drawing/2014/main" id="{24D146C1-B978-92CE-E606-DC8DF5939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3" name="Picture 2" descr="Admissions — SIMATS">
            <a:extLst>
              <a:ext uri="{FF2B5EF4-FFF2-40B4-BE49-F238E27FC236}">
                <a16:creationId xmlns:a16="http://schemas.microsoft.com/office/drawing/2014/main" id="{7447675B-4BCD-8C2F-0BFF-DB23062B1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52620" y="792480"/>
            <a:ext cx="3276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Module 3: Output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154" y="1508759"/>
            <a:ext cx="7949565" cy="313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05823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90810" y="3886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Multi-Tenancy Architecture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SaaS Design Patterns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 (RBAC)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Balancing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Auto-Scaling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EAD7DE1C-7AC9-0271-EED6-CEECE7E19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49237"/>
            <a:ext cx="4062270" cy="485335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BBF5D320-9BA9-E228-0E05-56BE499CBE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A2BB36-BC9F-C98C-6E6A-3DD3A6CC78DA}"/>
              </a:ext>
            </a:extLst>
          </p:cNvPr>
          <p:cNvSpPr txBox="1"/>
          <p:nvPr/>
        </p:nvSpPr>
        <p:spPr>
          <a:xfrm>
            <a:off x="2319195" y="542206"/>
            <a:ext cx="45056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464234"/>
            <a:ext cx="8229600" cy="5873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Applications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797083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Schools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Colleges and Universities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Learning Platforms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Coaching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 Training Organizations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Training Institutes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Development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Certification Programs </a:t>
            </a:r>
          </a:p>
          <a:p>
            <a:pPr algn="just"/>
            <a:endParaRPr lang="en-US" sz="1600" dirty="0"/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84425623-525D-AA26-9F21-A98065FA2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70338"/>
            <a:ext cx="4114800" cy="506437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AC4644FE-3C24-6480-0D3A-3F26E0F39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2" name="Picture 1" descr="Why a multi-tenant LMS is the best choice for your organisation - Moodle">
            <a:extLst>
              <a:ext uri="{FF2B5EF4-FFF2-40B4-BE49-F238E27FC236}">
                <a16:creationId xmlns:a16="http://schemas.microsoft.com/office/drawing/2014/main" id="{0D133C38-E808-7355-31B8-ECE498BAAF0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613"/>
          <a:stretch>
            <a:fillRect/>
          </a:stretch>
        </p:blipFill>
        <p:spPr>
          <a:xfrm>
            <a:off x="5151964" y="1424953"/>
            <a:ext cx="3534836" cy="251811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veetha University">
            <a:extLst>
              <a:ext uri="{FF2B5EF4-FFF2-40B4-BE49-F238E27FC236}">
                <a16:creationId xmlns:a16="http://schemas.microsoft.com/office/drawing/2014/main" id="{AC4644FE-3C24-6480-0D3A-3F26E0F39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3" name="Picture 2" descr="Admissions — SIMATS">
            <a:extLst>
              <a:ext uri="{FF2B5EF4-FFF2-40B4-BE49-F238E27FC236}">
                <a16:creationId xmlns:a16="http://schemas.microsoft.com/office/drawing/2014/main" id="{84425623-525D-AA26-9F21-A98065FA2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70338"/>
            <a:ext cx="4114800" cy="5064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85640" y="863600"/>
            <a:ext cx="3210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4800" y="1440021"/>
            <a:ext cx="636016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AI-Based Learning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 – Add AI for personalized course and study recommendations.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Mobile Application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 – Develop Android/</a:t>
            </a:r>
            <a:r>
              <a:rPr lang="en-GB" dirty="0" err="1">
                <a:latin typeface="Times New Roman" pitchFamily="18" charset="0"/>
                <a:cs typeface="Times New Roman" pitchFamily="18" charset="0"/>
              </a:rPr>
              <a:t>iOS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 apps for students and teachers.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Advanced Analytics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 – Predict student performance and identify at-risk students.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Scalable Cloud Infrastructure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 – Support thousands of institutions and users.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AI </a:t>
            </a:r>
            <a:r>
              <a:rPr lang="en-GB" b="1" dirty="0" err="1">
                <a:latin typeface="Times New Roman" pitchFamily="18" charset="0"/>
                <a:cs typeface="Times New Roman" pitchFamily="18" charset="0"/>
              </a:rPr>
              <a:t>Chatbot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 – Provide 24/7 assistance for course and student queries.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Advanced Subscription Plans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 – Add flexible plans, automated billing, and payment management.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7896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90395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Conclusion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424005" y="1280759"/>
            <a:ext cx="8295990" cy="3771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Multi-Tenant SaaS-Based Student Learning Management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efficient, scalable, and secure solution for managing educational activities across multiple institutions. 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 cloud computing, multi-tenancy, role-based access control, load balancing, and auto-scaling, the system reduces operational costs while improving accessibility and performance.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approach enables institutions to deliver high-quality online education through a centralized, reliable, and cost-effective cloud platform.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AB78A499-A10B-1964-FF2B-15764B2F7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70339"/>
            <a:ext cx="4062270" cy="471267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B7E3E331-02E3-7373-5BCE-248788A12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0810" y="39741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References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64781" y="1109784"/>
            <a:ext cx="8661129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GB" sz="1600" b="1" dirty="0" err="1">
                <a:latin typeface="Times New Roman" pitchFamily="18" charset="0"/>
                <a:cs typeface="Times New Roman" pitchFamily="18" charset="0"/>
              </a:rPr>
              <a:t>Azouzi</a:t>
            </a:r>
            <a:r>
              <a:rPr lang="en-GB" sz="1600" b="1" dirty="0">
                <a:latin typeface="Times New Roman" pitchFamily="18" charset="0"/>
                <a:cs typeface="Times New Roman" pitchFamily="18" charset="0"/>
              </a:rPr>
              <a:t>, S., &amp; </a:t>
            </a:r>
            <a:r>
              <a:rPr lang="en-GB" sz="1600" b="1" dirty="0" err="1">
                <a:latin typeface="Times New Roman" pitchFamily="18" charset="0"/>
                <a:cs typeface="Times New Roman" pitchFamily="18" charset="0"/>
              </a:rPr>
              <a:t>Ayachi</a:t>
            </a:r>
            <a:r>
              <a:rPr lang="en-GB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1600" b="1" dirty="0" err="1">
                <a:latin typeface="Times New Roman" pitchFamily="18" charset="0"/>
                <a:cs typeface="Times New Roman" pitchFamily="18" charset="0"/>
              </a:rPr>
              <a:t>Ghannouchi</a:t>
            </a:r>
            <a:r>
              <a:rPr lang="en-GB" sz="1600" b="1" dirty="0">
                <a:latin typeface="Times New Roman" pitchFamily="18" charset="0"/>
                <a:cs typeface="Times New Roman" pitchFamily="18" charset="0"/>
              </a:rPr>
              <a:t>, S. (2025).</a:t>
            </a: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 “Designing Multi-Tenant E-Learning Systems in the Cloud: A Process-Oriented Approach for Higher Education.” </a:t>
            </a:r>
            <a:r>
              <a:rPr lang="en-GB" sz="1600" i="1" dirty="0">
                <a:latin typeface="Times New Roman" pitchFamily="18" charset="0"/>
                <a:cs typeface="Times New Roman" pitchFamily="18" charset="0"/>
              </a:rPr>
              <a:t>International Journal of Computer Applications</a:t>
            </a: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, 187(10), 16–24. DOI: </a:t>
            </a:r>
            <a:r>
              <a:rPr lang="en-GB" sz="1600" b="1" dirty="0">
                <a:latin typeface="Times New Roman" pitchFamily="18" charset="0"/>
                <a:cs typeface="Times New Roman" pitchFamily="18" charset="0"/>
              </a:rPr>
              <a:t>10.5120/ijca2025924998</a:t>
            </a: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. (</a:t>
            </a:r>
            <a:r>
              <a:rPr lang="en-GB" sz="1600" dirty="0">
                <a:latin typeface="Times New Roman" pitchFamily="18" charset="0"/>
                <a:cs typeface="Times New Roman" pitchFamily="18" charset="0"/>
                <a:hlinkClick r:id="rId3" tooltip="Designing Multi-Tenant E-Learning Systems in the Cloud"/>
              </a:rPr>
              <a:t>IJCA</a:t>
            </a: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sz="1600" b="1" dirty="0">
                <a:latin typeface="Times New Roman" pitchFamily="18" charset="0"/>
                <a:cs typeface="Times New Roman" pitchFamily="18" charset="0"/>
              </a:rPr>
              <a:t>Ahmed, H. M. M., El-</a:t>
            </a:r>
            <a:r>
              <a:rPr lang="en-GB" sz="1600" b="1" dirty="0" err="1">
                <a:latin typeface="Times New Roman" pitchFamily="18" charset="0"/>
                <a:cs typeface="Times New Roman" pitchFamily="18" charset="0"/>
              </a:rPr>
              <a:t>Sabagh</a:t>
            </a:r>
            <a:r>
              <a:rPr lang="en-GB" sz="1600" b="1" dirty="0">
                <a:latin typeface="Times New Roman" pitchFamily="18" charset="0"/>
                <a:cs typeface="Times New Roman" pitchFamily="18" charset="0"/>
              </a:rPr>
              <a:t>, H. A., &amp; </a:t>
            </a:r>
            <a:r>
              <a:rPr lang="en-GB" sz="1600" b="1" dirty="0" err="1">
                <a:latin typeface="Times New Roman" pitchFamily="18" charset="0"/>
                <a:cs typeface="Times New Roman" pitchFamily="18" charset="0"/>
              </a:rPr>
              <a:t>Elbourhamy</a:t>
            </a:r>
            <a:r>
              <a:rPr lang="en-GB" sz="1600" b="1" dirty="0">
                <a:latin typeface="Times New Roman" pitchFamily="18" charset="0"/>
                <a:cs typeface="Times New Roman" pitchFamily="18" charset="0"/>
              </a:rPr>
              <a:t>, D. M. (2025).</a:t>
            </a: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 “Effect of </a:t>
            </a:r>
            <a:r>
              <a:rPr lang="en-GB" sz="1600" dirty="0" err="1">
                <a:latin typeface="Times New Roman" pitchFamily="18" charset="0"/>
                <a:cs typeface="Times New Roman" pitchFamily="18" charset="0"/>
              </a:rPr>
              <a:t>Gamified</a:t>
            </a: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, Mobile, Cloud-Based Learning Management System (GMCLMS) on Student Engagement and Achievement.” </a:t>
            </a:r>
            <a:r>
              <a:rPr lang="en-GB" sz="1600" i="1" dirty="0">
                <a:latin typeface="Times New Roman" pitchFamily="18" charset="0"/>
                <a:cs typeface="Times New Roman" pitchFamily="18" charset="0"/>
              </a:rPr>
              <a:t>International Journal of Educational Technology in Higher Education</a:t>
            </a: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, 22, 49. DOI: </a:t>
            </a:r>
            <a:r>
              <a:rPr lang="en-GB" sz="1600" b="1" dirty="0">
                <a:latin typeface="Times New Roman" pitchFamily="18" charset="0"/>
                <a:cs typeface="Times New Roman" pitchFamily="18" charset="0"/>
              </a:rPr>
              <a:t>10.1186/s41239-025-00541-1</a:t>
            </a: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. (</a:t>
            </a:r>
            <a:r>
              <a:rPr lang="en-GB" sz="1600" dirty="0">
                <a:latin typeface="Times New Roman" pitchFamily="18" charset="0"/>
                <a:cs typeface="Times New Roman" pitchFamily="18" charset="0"/>
                <a:hlinkClick r:id="rId4" tooltip="Effect of Gamified, Mobile, Cloud-Based Learning ..."/>
              </a:rPr>
              <a:t>Springer</a:t>
            </a: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sz="1600" b="1" dirty="0">
                <a:latin typeface="Times New Roman" pitchFamily="18" charset="0"/>
                <a:cs typeface="Times New Roman" pitchFamily="18" charset="0"/>
              </a:rPr>
              <a:t>Sharma, H. R., </a:t>
            </a:r>
            <a:r>
              <a:rPr lang="en-GB" sz="1600" b="1" dirty="0" err="1">
                <a:latin typeface="Times New Roman" pitchFamily="18" charset="0"/>
                <a:cs typeface="Times New Roman" pitchFamily="18" charset="0"/>
              </a:rPr>
              <a:t>Mondhe</a:t>
            </a:r>
            <a:r>
              <a:rPr lang="en-GB" sz="1600" b="1" dirty="0">
                <a:latin typeface="Times New Roman" pitchFamily="18" charset="0"/>
                <a:cs typeface="Times New Roman" pitchFamily="18" charset="0"/>
              </a:rPr>
              <a:t>, T. Y., </a:t>
            </a:r>
            <a:r>
              <a:rPr lang="en-GB" sz="1600" b="1" dirty="0" err="1">
                <a:latin typeface="Times New Roman" pitchFamily="18" charset="0"/>
                <a:cs typeface="Times New Roman" pitchFamily="18" charset="0"/>
              </a:rPr>
              <a:t>Kumbhare</a:t>
            </a:r>
            <a:r>
              <a:rPr lang="en-GB" sz="1600" b="1" dirty="0">
                <a:latin typeface="Times New Roman" pitchFamily="18" charset="0"/>
                <a:cs typeface="Times New Roman" pitchFamily="18" charset="0"/>
              </a:rPr>
              <a:t>, B., &amp; </a:t>
            </a:r>
            <a:r>
              <a:rPr lang="en-GB" sz="1600" b="1" dirty="0" err="1">
                <a:latin typeface="Times New Roman" pitchFamily="18" charset="0"/>
                <a:cs typeface="Times New Roman" pitchFamily="18" charset="0"/>
              </a:rPr>
              <a:t>Kanekar</a:t>
            </a:r>
            <a:r>
              <a:rPr lang="en-GB" sz="1600" b="1" dirty="0">
                <a:latin typeface="Times New Roman" pitchFamily="18" charset="0"/>
                <a:cs typeface="Times New Roman" pitchFamily="18" charset="0"/>
              </a:rPr>
              <a:t>, Y. (2025).</a:t>
            </a: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 “Design and Evaluation of a Multi-Tenant </a:t>
            </a:r>
            <a:r>
              <a:rPr lang="en-GB" sz="1600" dirty="0" err="1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 Platform for Scalable and Secure Application Delivery.” </a:t>
            </a:r>
            <a:r>
              <a:rPr lang="en-GB" sz="1600" i="1" dirty="0">
                <a:latin typeface="Times New Roman" pitchFamily="18" charset="0"/>
                <a:cs typeface="Times New Roman" pitchFamily="18" charset="0"/>
              </a:rPr>
              <a:t>Indian Journal of Computer Science and Technology</a:t>
            </a: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, 4(2), 227–232. (</a:t>
            </a:r>
            <a:r>
              <a:rPr lang="en-GB" sz="1600" dirty="0">
                <a:latin typeface="Times New Roman" pitchFamily="18" charset="0"/>
                <a:cs typeface="Times New Roman" pitchFamily="18" charset="0"/>
                <a:hlinkClick r:id="rId5" tooltip="Design and Evaluation of a Multi-Tenant SaaS Platform for ..."/>
              </a:rPr>
              <a:t>indjcst.com</a:t>
            </a: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sz="1600" b="1" dirty="0" err="1">
                <a:latin typeface="Times New Roman" pitchFamily="18" charset="0"/>
                <a:cs typeface="Times New Roman" pitchFamily="18" charset="0"/>
              </a:rPr>
              <a:t>Murali</a:t>
            </a:r>
            <a:r>
              <a:rPr lang="en-GB" sz="1600" b="1" dirty="0">
                <a:latin typeface="Times New Roman" pitchFamily="18" charset="0"/>
                <a:cs typeface="Times New Roman" pitchFamily="18" charset="0"/>
              </a:rPr>
              <a:t>, J. A. (2026).</a:t>
            </a: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GB" sz="1600" dirty="0" err="1">
                <a:latin typeface="Times New Roman" pitchFamily="18" charset="0"/>
                <a:cs typeface="Times New Roman" pitchFamily="18" charset="0"/>
              </a:rPr>
              <a:t>Hypergraph</a:t>
            </a: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-Based Adaptive Resource Scheduling for Fault-Resilient Multi-Tenant Cloud Allocation.” </a:t>
            </a:r>
            <a:r>
              <a:rPr lang="en-GB" sz="1600" i="1" dirty="0">
                <a:latin typeface="Times New Roman" pitchFamily="18" charset="0"/>
                <a:cs typeface="Times New Roman" pitchFamily="18" charset="0"/>
              </a:rPr>
              <a:t>Journal of Cloud Computing</a:t>
            </a: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. DOI: </a:t>
            </a:r>
            <a:r>
              <a:rPr lang="en-GB" sz="1600" b="1" dirty="0">
                <a:latin typeface="Times New Roman" pitchFamily="18" charset="0"/>
                <a:cs typeface="Times New Roman" pitchFamily="18" charset="0"/>
              </a:rPr>
              <a:t>10.1186/s13677-026-00925-2</a:t>
            </a: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. (</a:t>
            </a:r>
            <a:r>
              <a:rPr lang="en-GB" sz="1600" dirty="0">
                <a:latin typeface="Times New Roman" pitchFamily="18" charset="0"/>
                <a:cs typeface="Times New Roman" pitchFamily="18" charset="0"/>
                <a:hlinkClick r:id="rId6" tooltip="Performance Trade-Offs in Multi-Tenant IoT–Cloud Security"/>
              </a:rPr>
              <a:t>MDPI</a:t>
            </a: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sz="1600" b="1" dirty="0" err="1">
                <a:latin typeface="Times New Roman" pitchFamily="18" charset="0"/>
                <a:cs typeface="Times New Roman" pitchFamily="18" charset="0"/>
              </a:rPr>
              <a:t>Mthwazi</a:t>
            </a:r>
            <a:r>
              <a:rPr lang="en-GB" sz="1600" b="1" dirty="0">
                <a:latin typeface="Times New Roman" pitchFamily="18" charset="0"/>
                <a:cs typeface="Times New Roman" pitchFamily="18" charset="0"/>
              </a:rPr>
              <a:t>, G., </a:t>
            </a:r>
            <a:r>
              <a:rPr lang="en-GB" sz="1600" b="1" dirty="0" err="1">
                <a:latin typeface="Times New Roman" pitchFamily="18" charset="0"/>
                <a:cs typeface="Times New Roman" pitchFamily="18" charset="0"/>
              </a:rPr>
              <a:t>Kapepo</a:t>
            </a:r>
            <a:r>
              <a:rPr lang="en-GB" sz="1600" b="1" dirty="0">
                <a:latin typeface="Times New Roman" pitchFamily="18" charset="0"/>
                <a:cs typeface="Times New Roman" pitchFamily="18" charset="0"/>
              </a:rPr>
              <a:t>, M., &amp; Van Belle, J.-P. (2026).</a:t>
            </a: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 “The Use of Learning Management Systems for Self-Paced Learning: The Case at a South African Public Access Centre.” Published </a:t>
            </a:r>
            <a:r>
              <a:rPr lang="en-GB" sz="1600" b="1" dirty="0">
                <a:latin typeface="Times New Roman" pitchFamily="18" charset="0"/>
                <a:cs typeface="Times New Roman" pitchFamily="18" charset="0"/>
              </a:rPr>
              <a:t>13 August 2026</a:t>
            </a: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. (</a:t>
            </a:r>
            <a:r>
              <a:rPr lang="en-GB" sz="1600" dirty="0" err="1">
                <a:latin typeface="Times New Roman" pitchFamily="18" charset="0"/>
                <a:cs typeface="Times New Roman" pitchFamily="18" charset="0"/>
                <a:hlinkClick r:id="rId7" tooltip="The Use of Learning Management Systems for Self-paced Learning: The Case at a South African Public Access Centre"/>
              </a:rPr>
              <a:t>arXiv</a:t>
            </a: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 descr="Admissions — SIMATS">
            <a:extLst>
              <a:ext uri="{FF2B5EF4-FFF2-40B4-BE49-F238E27FC236}">
                <a16:creationId xmlns:a16="http://schemas.microsoft.com/office/drawing/2014/main" id="{2A2A853D-CA2F-3C99-F5B8-BBA1FB7B32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0920" y="56271"/>
            <a:ext cx="4062270" cy="492370"/>
          </a:xfrm>
          <a:prstGeom prst="rect">
            <a:avLst/>
          </a:prstGeom>
        </p:spPr>
      </p:pic>
      <p:pic>
        <p:nvPicPr>
          <p:cNvPr id="7" name="Picture 6" descr="Saveetha University">
            <a:extLst>
              <a:ext uri="{FF2B5EF4-FFF2-40B4-BE49-F238E27FC236}">
                <a16:creationId xmlns:a16="http://schemas.microsoft.com/office/drawing/2014/main" id="{E5C893BA-9E02-B0BF-6892-74AACA68C0C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5,895 Thank You Sign Royalty-Free Images, Stock Photos &amp; Pictures |  Shutterstock">
            <a:extLst>
              <a:ext uri="{FF2B5EF4-FFF2-40B4-BE49-F238E27FC236}">
                <a16:creationId xmlns:a16="http://schemas.microsoft.com/office/drawing/2014/main" id="{6110245E-94C9-12DB-2750-254B00CE2C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33"/>
          <a:stretch>
            <a:fillRect/>
          </a:stretch>
        </p:blipFill>
        <p:spPr>
          <a:xfrm>
            <a:off x="1540412" y="1208099"/>
            <a:ext cx="5944626" cy="30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4368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veetha University">
            <a:extLst>
              <a:ext uri="{FF2B5EF4-FFF2-40B4-BE49-F238E27FC236}">
                <a16:creationId xmlns:a16="http://schemas.microsoft.com/office/drawing/2014/main" id="{E5C893BA-9E02-B0BF-6892-74AACA68C0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3" name="Picture 2" descr="Admissions — SIMATS">
            <a:extLst>
              <a:ext uri="{FF2B5EF4-FFF2-40B4-BE49-F238E27FC236}">
                <a16:creationId xmlns:a16="http://schemas.microsoft.com/office/drawing/2014/main" id="{2A2A853D-CA2F-3C99-F5B8-BBA1FB7B32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920" y="56271"/>
            <a:ext cx="4062270" cy="4923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304080" y="751839"/>
            <a:ext cx="2773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GPS Photo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117" y="1442720"/>
            <a:ext cx="3443702" cy="3453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WhatsApp Video 2026-08-20 at 2.28.29 PM">
            <a:hlinkClick r:id="" action="ppaction://media"/>
            <a:extLst>
              <a:ext uri="{FF2B5EF4-FFF2-40B4-BE49-F238E27FC236}">
                <a16:creationId xmlns:a16="http://schemas.microsoft.com/office/drawing/2014/main" id="{6F0DE37D-C64C-AA53-E307-02FB1B9760E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332849" y="1442720"/>
            <a:ext cx="3856575" cy="356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720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92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1175</Words>
  <Application>Microsoft Office PowerPoint</Application>
  <PresentationFormat>On-screen Show (16:9)</PresentationFormat>
  <Paragraphs>150</Paragraphs>
  <Slides>19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Times New Roman</vt:lpstr>
      <vt:lpstr>Wingdings</vt:lpstr>
      <vt:lpstr>Office Theme</vt:lpstr>
      <vt:lpstr>Multi-Tenant SaaS-Based Student Learning Management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Development Of An Intelligent Smart Agriculture Management System Using Data Structures A</dc:title>
  <dc:subject>Design And Development Of An Intelligent Smart Agriculture Management System Using Data Structures A</dc:subject>
  <dc:creator>SlideMake.com</dc:creator>
  <cp:lastModifiedBy>Raj kumari</cp:lastModifiedBy>
  <cp:revision>11</cp:revision>
  <dcterms:created xsi:type="dcterms:W3CDTF">2026-07-22T02:09:05Z</dcterms:created>
  <dcterms:modified xsi:type="dcterms:W3CDTF">2026-08-27T04:23:56Z</dcterms:modified>
</cp:coreProperties>
</file>
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2" r:id="rId2"/>
    <p:sldId id="256" r:id="rId3"/>
    <p:sldId id="259" r:id="rId4"/>
    <p:sldId id="260" r:id="rId5"/>
    <p:sldId id="261" r:id="rId6"/>
    <p:sldId id="264" r:id="rId7"/>
    <p:sldId id="265" r:id="rId8"/>
    <p:sldId id="268" r:id="rId9"/>
    <p:sldId id="269" r:id="rId10"/>
    <p:sldId id="27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4660"/>
  </p:normalViewPr>
  <p:slideViewPr>
    <p:cSldViewPr>
      <p:cViewPr>
        <p:scale>
          <a:sx n="66" d="100"/>
          <a:sy n="66" d="100"/>
        </p:scale>
        <p:origin x="-1920" y="-4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2A373-A50B-42F0-B320-3E114869E16C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538D68-4451-4B9C-AF56-1EAA9E7711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49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0F0C-1EB7-456A-BB2B-006122865ED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425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0F0C-1EB7-456A-BB2B-006122865ED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92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0F0C-1EB7-456A-BB2B-006122865ED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03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0F0C-1EB7-456A-BB2B-006122865ED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671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0F0C-1EB7-456A-BB2B-006122865ED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252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0F0C-1EB7-456A-BB2B-006122865ED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757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0F0C-1EB7-456A-BB2B-006122865ED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486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0F0C-1EB7-456A-BB2B-006122865ED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482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0F0C-1EB7-456A-BB2B-006122865ED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306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0F0C-1EB7-456A-BB2B-006122865ED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569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00F0C-1EB7-456A-BB2B-006122865ED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518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500F0C-1EB7-456A-BB2B-006122865ED5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C0C3C-3A10-405F-8FF8-A3ED3E4831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885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020535" y="3320144"/>
            <a:ext cx="68580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GB" sz="37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GB" sz="37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700" dirty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GB" sz="37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7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16058" y="4985987"/>
            <a:ext cx="380787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000" b="1" dirty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Presented </a:t>
            </a:r>
            <a:r>
              <a:rPr lang="en-GB" sz="2000" b="1" dirty="0" smtClean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By:</a:t>
            </a:r>
            <a:endParaRPr lang="en-GB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000" b="1" dirty="0" smtClean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Sanjay </a:t>
            </a:r>
            <a:r>
              <a:rPr lang="en-GB" sz="2000" b="1" dirty="0" err="1" smtClean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kumar</a:t>
            </a:r>
            <a:r>
              <a:rPr lang="en-GB" sz="2000" b="1" dirty="0" smtClean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 soy(192373005</a:t>
            </a:r>
            <a:r>
              <a:rPr lang="en-GB" sz="2000" b="1" dirty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)</a:t>
            </a:r>
            <a:endParaRPr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000" b="1" dirty="0" smtClean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K. </a:t>
            </a:r>
            <a:r>
              <a:rPr lang="en-GB" sz="2000" b="1" dirty="0" err="1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Dhilip</a:t>
            </a:r>
            <a:r>
              <a:rPr lang="en-GB" sz="2000" b="1" dirty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(192365013)</a:t>
            </a:r>
            <a:endParaRPr sz="2000" b="1" dirty="0">
              <a:solidFill>
                <a:schemeClr val="tx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000" b="1" dirty="0" smtClean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T. </a:t>
            </a:r>
            <a:r>
              <a:rPr lang="en-GB" sz="2000" b="1" dirty="0" err="1" smtClean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Subahan</a:t>
            </a:r>
            <a:r>
              <a:rPr lang="en-GB" sz="2000" b="1" dirty="0" smtClean="0">
                <a:solidFill>
                  <a:schemeClr val="tx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(192511121)</a:t>
            </a:r>
            <a:endParaRPr sz="2000" b="1" dirty="0">
              <a:solidFill>
                <a:schemeClr val="tx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7793" y="216252"/>
            <a:ext cx="85153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8571" y="238662"/>
            <a:ext cx="1140143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6261354" y="4985979"/>
            <a:ext cx="27783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</a:t>
            </a: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000" b="1" dirty="0" err="1" smtClean="0">
                <a:solidFill>
                  <a:schemeClr val="dk1"/>
                </a:solidFill>
                <a:latin typeface="Times New Roman"/>
                <a:ea typeface="Arial"/>
                <a:cs typeface="Times New Roman"/>
                <a:sym typeface="Times New Roman"/>
              </a:rPr>
              <a:t>Dr.</a:t>
            </a:r>
            <a:r>
              <a:rPr lang="en-GB" sz="2000" b="1" dirty="0" smtClean="0">
                <a:solidFill>
                  <a:schemeClr val="dk1"/>
                </a:solidFill>
                <a:latin typeface="Times New Roman"/>
                <a:ea typeface="Arial"/>
                <a:cs typeface="Times New Roman"/>
                <a:sym typeface="Times New Roman"/>
              </a:rPr>
              <a:t> </a:t>
            </a:r>
            <a:r>
              <a:rPr lang="en-GB" sz="2000" b="1" dirty="0" err="1" smtClean="0">
                <a:solidFill>
                  <a:schemeClr val="dk1"/>
                </a:solidFill>
                <a:latin typeface="Times New Roman"/>
                <a:ea typeface="Arial"/>
                <a:cs typeface="Times New Roman"/>
                <a:sym typeface="Times New Roman"/>
              </a:rPr>
              <a:t>Rajaram</a:t>
            </a:r>
            <a:r>
              <a:rPr lang="en-GB" sz="2000" b="1" dirty="0" smtClean="0">
                <a:solidFill>
                  <a:schemeClr val="dk1"/>
                </a:solidFill>
                <a:latin typeface="Times New Roman"/>
                <a:ea typeface="Arial"/>
                <a:cs typeface="Times New Roman"/>
                <a:sym typeface="Times New Roman"/>
              </a:rPr>
              <a:t> P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639854" y="3501008"/>
            <a:ext cx="5619375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GB" sz="32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CSA1522-</a:t>
            </a:r>
            <a:r>
              <a:rPr lang="en-GB" sz="3200" b="1" dirty="0" smtClean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Computing and Big Data Analytics</a:t>
            </a:r>
            <a:endParaRPr sz="3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75656" y="1700808"/>
            <a:ext cx="57835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Cloud Computing Characteristics and Benefits for Startup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Ecosystems</a:t>
            </a:r>
          </a:p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Comparative Presentation on 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IaaS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PaaS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 for an Educational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Institution</a:t>
            </a:r>
          </a:p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Why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XaaS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is Becoming a Dominant Consumption Model in Modern IT</a:t>
            </a:r>
          </a:p>
          <a:p>
            <a:pPr algn="ctr"/>
            <a:endParaRPr lang="en-IN" b="1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3337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505" y="1340768"/>
            <a:ext cx="4000500" cy="491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Google Shape;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391" y="21625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08304" y="216250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926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672" y="1531230"/>
            <a:ext cx="4922837" cy="489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Google Shape;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391" y="21625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08304" y="311150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8535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45771" y="332656"/>
            <a:ext cx="56905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Cloud Computing Characteristics and Benefits for Startup Ecosystems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IN" sz="2400" b="1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0868" y="1196752"/>
            <a:ext cx="806489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b="1" dirty="0" smtClean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just"/>
            <a:endParaRPr lang="en-IN" b="1" dirty="0" smtClean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algn="ctr"/>
            <a:r>
              <a:rPr lang="en-IN" b="1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Title &amp; Objective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Objective: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Understand cloud computing characteristics.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Learn how startups benefit from cloud services.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Explore real-world applications. </a:t>
            </a: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Core Technical Explanation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Characteristics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i.) On-demand self-service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ii.) Broad network access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iii.) Resource pooling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iv.) Rapid elasticity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v.) Measured service </a:t>
            </a:r>
          </a:p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Benefits for Startups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i.) Low initial investment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ii.) Faster deployment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iii.) High scalability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iv.) Automatic updates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v.) Global accessibility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Google Shape;9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0391" y="21625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4288" y="216250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7250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974" y="2276872"/>
            <a:ext cx="2149475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7544" y="1772816"/>
            <a:ext cx="3528392" cy="45365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11960" y="1857013"/>
            <a:ext cx="44005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Real-World Use Case</a:t>
            </a:r>
          </a:p>
          <a:p>
            <a:pPr algn="ctr"/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 err="1" smtClean="0">
                <a:latin typeface="Times New Roman" pitchFamily="18" charset="0"/>
                <a:cs typeface="Times New Roman" pitchFamily="18" charset="0"/>
              </a:rPr>
              <a:t>Startup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Netflix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Uses AWS cloud services.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Stores huge amounts of data.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Automatically scales during peak hours.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Delivers content worldwide. </a:t>
            </a:r>
          </a:p>
          <a:p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Cloud computing reduces infrastructure cost.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Enables rapid business growth.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Ideal platform for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startups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Key Takeaway: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Cloud computing helps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startups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innovate faster with lower investment.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Google Shape;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391" y="260648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92280" y="211684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755576" y="1772816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Architecture Diagram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82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5771" y="274638"/>
            <a:ext cx="5546510" cy="1143000"/>
          </a:xfrm>
        </p:spPr>
        <p:txBody>
          <a:bodyPr>
            <a:noAutofit/>
          </a:bodyPr>
          <a:lstStyle/>
          <a:p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Comparative Presentation on </a:t>
            </a:r>
            <a:r>
              <a:rPr lang="en-IN" sz="2400" b="1" dirty="0" err="1" smtClean="0">
                <a:latin typeface="Times New Roman" pitchFamily="18" charset="0"/>
                <a:cs typeface="Times New Roman" pitchFamily="18" charset="0"/>
              </a:rPr>
              <a:t>IaaS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2400" b="1" dirty="0" err="1" smtClean="0">
                <a:latin typeface="Times New Roman" pitchFamily="18" charset="0"/>
                <a:cs typeface="Times New Roman" pitchFamily="18" charset="0"/>
              </a:rPr>
              <a:t>PaaS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IN" sz="2400" b="1" dirty="0" err="1" smtClean="0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 for an Educational Institution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Title &amp; Objective</a:t>
            </a:r>
          </a:p>
          <a:p>
            <a:pPr marL="0" indent="0" algn="just">
              <a:buNone/>
            </a:pPr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Title: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dirty="0" err="1" smtClean="0">
                <a:latin typeface="Times New Roman" pitchFamily="18" charset="0"/>
                <a:cs typeface="Times New Roman" pitchFamily="18" charset="0"/>
              </a:rPr>
              <a:t>IaaS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dirty="0" err="1" smtClean="0">
                <a:latin typeface="Times New Roman" pitchFamily="18" charset="0"/>
                <a:cs typeface="Times New Roman" pitchFamily="18" charset="0"/>
              </a:rPr>
              <a:t>PaaS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dirty="0" err="1" smtClean="0">
                <a:latin typeface="Times New Roman" pitchFamily="18" charset="0"/>
                <a:cs typeface="Times New Roman" pitchFamily="18" charset="0"/>
              </a:rPr>
              <a:t>SaaS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Objective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Compare cloud service models. </a:t>
            </a:r>
          </a:p>
          <a:p>
            <a:pPr algn="just"/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Understand educational applications.</a:t>
            </a:r>
          </a:p>
          <a:p>
            <a:pPr marL="0" indent="0" algn="ctr">
              <a:buNone/>
            </a:pPr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Core Technical Explanation</a:t>
            </a:r>
          </a:p>
          <a:p>
            <a:pPr marL="0" indent="0" algn="just">
              <a:buNone/>
            </a:pPr>
            <a:endParaRPr lang="en-IN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 algn="just"/>
            <a:r>
              <a:rPr lang="en-IN" sz="1800" dirty="0" err="1" smtClean="0">
                <a:latin typeface="Times New Roman" pitchFamily="18" charset="0"/>
                <a:cs typeface="Times New Roman" pitchFamily="18" charset="0"/>
              </a:rPr>
              <a:t>IaaS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 – AWS EC2 </a:t>
            </a:r>
          </a:p>
          <a:p>
            <a:pPr algn="just"/>
            <a:r>
              <a:rPr lang="en-IN" sz="1800" dirty="0" err="1" smtClean="0">
                <a:latin typeface="Times New Roman" pitchFamily="18" charset="0"/>
                <a:cs typeface="Times New Roman" pitchFamily="18" charset="0"/>
              </a:rPr>
              <a:t>PaaS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 – Google App Engine </a:t>
            </a:r>
          </a:p>
          <a:p>
            <a:pPr algn="just"/>
            <a:r>
              <a:rPr lang="en-IN" sz="1800" dirty="0" err="1" smtClean="0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 – Google Classroom</a:t>
            </a:r>
          </a:p>
          <a:p>
            <a:pPr algn="just"/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828957"/>
              </p:ext>
            </p:extLst>
          </p:nvPr>
        </p:nvGraphicFramePr>
        <p:xfrm>
          <a:off x="611560" y="3717032"/>
          <a:ext cx="784887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4112"/>
                <a:gridCol w="2024112"/>
                <a:gridCol w="3800648"/>
              </a:tblGrid>
              <a:tr h="365581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IaaS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PaaS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 smtClean="0"/>
                        <a:t>SaaS</a:t>
                      </a:r>
                      <a:endParaRPr lang="en-IN" dirty="0"/>
                    </a:p>
                  </a:txBody>
                  <a:tcPr anchor="ctr"/>
                </a:tc>
              </a:tr>
              <a:tr h="365581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Infrastructure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Development Platform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Ready-to-use Software</a:t>
                      </a:r>
                      <a:endParaRPr lang="en-IN" dirty="0"/>
                    </a:p>
                  </a:txBody>
                  <a:tcPr anchor="ctr"/>
                </a:tc>
              </a:tr>
              <a:tr h="365581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User manages OS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User develops apps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Provider manages everything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Google Shape;9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0391" y="21625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2280" y="218482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5781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391" y="1844824"/>
            <a:ext cx="3211513" cy="634082"/>
          </a:xfrm>
        </p:spPr>
        <p:txBody>
          <a:bodyPr>
            <a:normAutofit/>
          </a:bodyPr>
          <a:lstStyle/>
          <a:p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Architecture Diagram</a:t>
            </a: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211513" cy="4525963"/>
          </a:xfrm>
        </p:spPr>
        <p:txBody>
          <a:bodyPr/>
          <a:lstStyle/>
          <a:p>
            <a:pPr marL="0" indent="0">
              <a:buNone/>
            </a:pPr>
            <a:endParaRPr lang="en-IN" b="1" dirty="0" smtClean="0"/>
          </a:p>
          <a:p>
            <a:endParaRPr lang="en-IN" b="1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708920"/>
            <a:ext cx="2304255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105399" y="2060848"/>
            <a:ext cx="46805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Real-World Use Case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Educational Institution</a:t>
            </a:r>
          </a:p>
          <a:p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IaaS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→ Virtual servers </a:t>
            </a:r>
          </a:p>
          <a:p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PaaS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→ Student portal development </a:t>
            </a:r>
          </a:p>
          <a:p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→ Google Classroom, Microsoft 365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IaaS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offers infrastructure. </a:t>
            </a:r>
          </a:p>
          <a:p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PaaS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supports development. </a:t>
            </a:r>
          </a:p>
          <a:p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provides ready-to-use software. 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Key Takeaway: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Educational institutions can combine all three models effectively.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Google Shape;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391" y="21625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8289" y="193364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0102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5771" y="274638"/>
            <a:ext cx="5762534" cy="1143000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Why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XaaS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is Becoming a Dominant Consumption Model in Modern IT</a:t>
            </a: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656" y="1600200"/>
            <a:ext cx="8229600" cy="52578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Title &amp; Objective</a:t>
            </a: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Title: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Everything as a Service (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XaaS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Objective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Understand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XaaS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Learn why organizations adopt it. </a:t>
            </a:r>
          </a:p>
          <a:p>
            <a:pPr marL="0" indent="0" algn="ctr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Core Technical Explanation</a:t>
            </a:r>
          </a:p>
          <a:p>
            <a:pPr marL="0" indent="0" algn="just">
              <a:buNone/>
            </a:pPr>
            <a:r>
              <a:rPr lang="en-US" sz="1800" b="1" dirty="0" err="1" smtClean="0">
                <a:latin typeface="Times New Roman" pitchFamily="18" charset="0"/>
                <a:cs typeface="Times New Roman" pitchFamily="18" charset="0"/>
              </a:rPr>
              <a:t>XaaS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Includes</a:t>
            </a:r>
          </a:p>
          <a:p>
            <a:pPr algn="just"/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PaaS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IaaS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DBaaS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STaaS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(Storage as a Service) </a:t>
            </a: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Advantages</a:t>
            </a: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Pay-as-you-use </a:t>
            </a: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High scalability </a:t>
            </a: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Low maintenance </a:t>
            </a: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Anywhere access</a:t>
            </a:r>
          </a:p>
          <a:p>
            <a:pPr algn="just"/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Google Shape;9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0391" y="21625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08304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3635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062" y="1636811"/>
            <a:ext cx="3754760" cy="562074"/>
          </a:xfrm>
        </p:spPr>
        <p:txBody>
          <a:bodyPr>
            <a:normAutofit/>
          </a:bodyPr>
          <a:lstStyle/>
          <a:p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Architecture Diagram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3394720" cy="4929411"/>
          </a:xfrm>
        </p:spPr>
        <p:txBody>
          <a:bodyPr/>
          <a:lstStyle/>
          <a:p>
            <a:pPr marL="0" indent="0">
              <a:buNone/>
            </a:pPr>
            <a:endParaRPr lang="en-IN" dirty="0" smtClean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1772816"/>
            <a:ext cx="403244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Real-World Use Case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Company using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XaaS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Microsoft 365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Azure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IaaS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Azure SQL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DBaaS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Azure AI →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AIaaS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Benefits: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Reduced IT costs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Flexible scaling </a:t>
            </a: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XaaS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provides all IT resources as services.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Organizations pay only for what they use.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Supports digital transformation.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Key Takeaway: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XaaS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the future of modern IT because it offers flexibility, scalability, and cost efficiency.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492896"/>
            <a:ext cx="2933700" cy="402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Google Shape;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391" y="21625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4288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9000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GPS Photo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764" y="1600200"/>
            <a:ext cx="3394472" cy="4525963"/>
          </a:xfrm>
        </p:spPr>
      </p:pic>
      <p:pic>
        <p:nvPicPr>
          <p:cNvPr id="5" name="Google Shape;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391" y="216251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4288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9746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412</Words>
  <Application>Microsoft Office PowerPoint</Application>
  <PresentationFormat>On-screen Show (4:3)</PresentationFormat>
  <Paragraphs>117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  </vt:lpstr>
      <vt:lpstr>PowerPoint Presentation</vt:lpstr>
      <vt:lpstr>PowerPoint Presentation</vt:lpstr>
      <vt:lpstr>PowerPoint Presentation</vt:lpstr>
      <vt:lpstr>PowerPoint Presentation</vt:lpstr>
      <vt:lpstr>Comparative Presentation on IaaS, PaaS, and SaaS for an Educational Institution</vt:lpstr>
      <vt:lpstr>Architecture Diagram</vt:lpstr>
      <vt:lpstr>Why XaaS is Becoming a Dominant Consumption Model in Modern IT</vt:lpstr>
      <vt:lpstr>Architecture Diagram</vt:lpstr>
      <vt:lpstr>GPS Photo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15</cp:revision>
  <dcterms:created xsi:type="dcterms:W3CDTF">2026-07-21T16:57:06Z</dcterms:created>
  <dcterms:modified xsi:type="dcterms:W3CDTF">2026-07-23T09:20:20Z</dcterms:modified>
</cp:coreProperties>
</file>